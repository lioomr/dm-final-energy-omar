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79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FFB703">
              <a:alpha val="12000"/>
            </a:srgbClr>
          </a:solidFill>
          <a:ln w="12700">
            <a:solidFill>
              <a:srgbClr val="FFB703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3474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COURSE  ·  FINAL PROJECT  ·  PHASE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91440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System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11480" y="29260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Energy Consumption Analysis &amp; Anomaly Detection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1480" y="3547872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7307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Abdulaal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9047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" y="18928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Understanding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258568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 &amp; Egypt's energy crisis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256032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49047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18928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258568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Household Power Consumption dataset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25880"/>
            <a:ext cx="256032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49047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44768" y="18928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4768" y="2258568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methodology &amp; timeline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91640" y="32461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91640" y="3246120"/>
            <a:ext cx="256032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01368" y="341071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801368" y="381304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Selection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01368" y="4178808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Regression · Anomaly · Classification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32461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246120"/>
            <a:ext cx="256032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341071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36008" y="381304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Environment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36008" y="4178808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structure, requirements, commits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Domain Understanding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11480" y="13258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1755648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faces a critical energy shortage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regional conflict, rising fuel costs, and surging demand. The government has enacted mandatory load-shedding and launched campaigns to cut household consumption.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households have zero visibility into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usage — they see a monthly bill, not patterns, peaks, or waste.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846320" y="13258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46320" y="1773936"/>
            <a:ext cx="310896" cy="31089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57800" y="17922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dominant daily &amp; seasonal usage patterns?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46320" y="2450592"/>
            <a:ext cx="310896" cy="31089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57800" y="24688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accurately predict short-term energy consumption?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846320" y="3127248"/>
            <a:ext cx="310896" cy="31089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257800" y="31455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anomalous consumption events occur?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46320" y="3803904"/>
            <a:ext cx="310896" cy="31089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57800" y="38221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appliances drive peak load — and how to shift them?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71320"/>
          </a:solidFill>
          <a:ln w="12700">
            <a:solidFill>
              <a:srgbClr val="0713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2793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Egypt's energy is residential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74720" y="42793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Shedding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47472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schedules enforced since 2023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92240" y="42793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4922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guiding our approach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 Overview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841248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252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Individual Household Electric Power Consumption  ·  2,075,259 Records  ·  CC BY 4.0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874520"/>
            <a:ext cx="15361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874520"/>
            <a:ext cx="1536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99339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5760" y="24323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48256" y="1874520"/>
            <a:ext cx="15361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48256" y="1874520"/>
            <a:ext cx="1536192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48256" y="199339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048256" y="24323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730752" y="1874520"/>
            <a:ext cx="15361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30752" y="1874520"/>
            <a:ext cx="1536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30752" y="199339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730752" y="24323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13248" y="1874520"/>
            <a:ext cx="15361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13248" y="1874520"/>
            <a:ext cx="1536192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13248" y="199339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413248" y="24323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095744" y="1874520"/>
            <a:ext cx="15361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095744" y="1874520"/>
            <a:ext cx="1536192" cy="64008"/>
          </a:xfrm>
          <a:prstGeom prst="rect">
            <a:avLst/>
          </a:prstGeom>
          <a:solidFill>
            <a:srgbClr val="90AFC5"/>
          </a:solidFill>
          <a:ln w="12700">
            <a:solidFill>
              <a:srgbClr val="90AF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95744" y="199339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1.25%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095744" y="243230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65760" y="3035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65760" y="3401568"/>
            <a:ext cx="4023360" cy="283464"/>
          </a:xfrm>
          <a:prstGeom prst="rect">
            <a:avLst/>
          </a:prstGeom>
          <a:solidFill>
            <a:srgbClr val="EAF4FB"/>
          </a:solidFill>
          <a:ln w="6350">
            <a:solidFill>
              <a:srgbClr val="D5EAF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" y="341071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global_active_power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231136" y="3410712"/>
            <a:ext cx="457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706624" y="3410712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household active power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65760" y="3694176"/>
            <a:ext cx="4023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EAF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" y="3703320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sub_metering_1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231136" y="3703320"/>
            <a:ext cx="457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706624" y="3703320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appliances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65760" y="3986784"/>
            <a:ext cx="4023360" cy="283464"/>
          </a:xfrm>
          <a:prstGeom prst="rect">
            <a:avLst/>
          </a:prstGeom>
          <a:solidFill>
            <a:srgbClr val="EAF4FB"/>
          </a:solidFill>
          <a:ln w="6350">
            <a:solidFill>
              <a:srgbClr val="D5EAF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5488" y="399592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sub_metering_2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231136" y="3995928"/>
            <a:ext cx="457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706624" y="3995928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room appliances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65760" y="4279392"/>
            <a:ext cx="4023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5EAF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" y="4288536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sub_metering_3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2231136" y="4288536"/>
            <a:ext cx="457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706624" y="4288536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heater &amp; AC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65760" y="4572000"/>
            <a:ext cx="4023360" cy="283464"/>
          </a:xfrm>
          <a:prstGeom prst="rect">
            <a:avLst/>
          </a:prstGeom>
          <a:solidFill>
            <a:srgbClr val="EAF4FB"/>
          </a:solidFill>
          <a:ln w="6350">
            <a:solidFill>
              <a:srgbClr val="D5EAF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5488" y="4581144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voltage / intensity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2231136" y="4581144"/>
            <a:ext cx="4572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/ A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706624" y="4581144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quality metrics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709160" y="3035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Notes</a:t>
            </a:r>
            <a:endParaRPr lang="en-US" sz="1300" dirty="0"/>
          </a:p>
        </p:txBody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438144"/>
            <a:ext cx="219456" cy="219456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5010912" y="3419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1.25% missing rows — will use linear interpolation</a:t>
            </a:r>
            <a:endParaRPr lang="en-US" sz="1050" dirty="0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730752"/>
            <a:ext cx="219456" cy="219456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5010912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'?' character used as null placeholder — cast to NaN</a:t>
            </a:r>
            <a:endParaRPr lang="en-US" sz="1050" dirty="0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023360"/>
            <a:ext cx="219456" cy="219456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5010912" y="4005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stored separately — must merge into datetime index</a:t>
            </a:r>
            <a:endParaRPr lang="en-US" sz="1050" dirty="0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315968"/>
            <a:ext cx="219456" cy="219456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5010912" y="4297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timestamps — clean temporal structure</a:t>
            </a:r>
            <a:endParaRPr lang="en-US" sz="1050" dirty="0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608576"/>
            <a:ext cx="219456" cy="219456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5010912" y="4590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 license — freely usable for academic work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CRISP-DM Plan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234440"/>
            <a:ext cx="4160520" cy="1115568"/>
          </a:xfrm>
          <a:prstGeom prst="rect">
            <a:avLst/>
          </a:prstGeom>
          <a:solidFill>
            <a:srgbClr val="0E2235"/>
          </a:solidFill>
          <a:ln w="12700">
            <a:solidFill>
              <a:srgbClr val="1C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234440"/>
            <a:ext cx="73152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" y="138074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1380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78408" y="13624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1691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objectives, success metrics (RMSE, Silhouette, F1)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78408" y="2084832"/>
            <a:ext cx="1261872" cy="201168"/>
          </a:xfrm>
          <a:prstGeom prst="roundRect">
            <a:avLst>
              <a:gd name="adj" fmla="val 22727"/>
            </a:avLst>
          </a:prstGeom>
          <a:solidFill>
            <a:srgbClr val="00B4D8">
              <a:alpha val="25000"/>
            </a:srgbClr>
          </a:solidFill>
          <a:ln w="635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8408" y="20848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1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" y="2496312"/>
            <a:ext cx="4160520" cy="1115568"/>
          </a:xfrm>
          <a:prstGeom prst="rect">
            <a:avLst/>
          </a:prstGeom>
          <a:solidFill>
            <a:srgbClr val="0E2235"/>
          </a:solidFill>
          <a:ln w="12700">
            <a:solidFill>
              <a:srgbClr val="1C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496312"/>
            <a:ext cx="73152" cy="11155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" y="2642616"/>
            <a:ext cx="384048" cy="38404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8408" y="26243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78408" y="2953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distributions, correlations, time-series plots, outlier review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78408" y="3346704"/>
            <a:ext cx="1261872" cy="201168"/>
          </a:xfrm>
          <a:prstGeom prst="roundRect">
            <a:avLst>
              <a:gd name="adj" fmla="val 22727"/>
            </a:avLst>
          </a:prstGeom>
          <a:solidFill>
            <a:srgbClr val="FFB703">
              <a:alpha val="25000"/>
            </a:srgbClr>
          </a:solidFill>
          <a:ln w="6350">
            <a:solidFill>
              <a:srgbClr val="FFB703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8408" y="33467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1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0040" y="3758184"/>
            <a:ext cx="4160520" cy="1115568"/>
          </a:xfrm>
          <a:prstGeom prst="rect">
            <a:avLst/>
          </a:prstGeom>
          <a:solidFill>
            <a:srgbClr val="0E2235"/>
          </a:solidFill>
          <a:ln w="12700">
            <a:solidFill>
              <a:srgbClr val="1C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3758184"/>
            <a:ext cx="73152" cy="11155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4632" y="3904488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78408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78408" y="42153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datetime, impute missing values, feature engineering (hour, weekday, lag)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78408" y="4608576"/>
            <a:ext cx="1261872" cy="201168"/>
          </a:xfrm>
          <a:prstGeom prst="roundRect">
            <a:avLst>
              <a:gd name="adj" fmla="val 22727"/>
            </a:avLst>
          </a:prstGeom>
          <a:solidFill>
            <a:srgbClr val="06D6A0">
              <a:alpha val="25000"/>
            </a:srgbClr>
          </a:solidFill>
          <a:ln w="635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408" y="460857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Wk 1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754880" y="1234440"/>
            <a:ext cx="4160520" cy="1115568"/>
          </a:xfrm>
          <a:prstGeom prst="rect">
            <a:avLst/>
          </a:prstGeom>
          <a:solidFill>
            <a:srgbClr val="0E2235"/>
          </a:solidFill>
          <a:ln w="12700">
            <a:solidFill>
              <a:srgbClr val="1C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1234440"/>
            <a:ext cx="73152" cy="111556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19472" y="1380744"/>
            <a:ext cx="384048" cy="38404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19472" y="1380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413248" y="13624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413248" y="1691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 · Ridge/Poly Regression · Isolation Forest · Random Forest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13248" y="2084832"/>
            <a:ext cx="1261872" cy="201168"/>
          </a:xfrm>
          <a:prstGeom prst="roundRect">
            <a:avLst>
              <a:gd name="adj" fmla="val 22727"/>
            </a:avLst>
          </a:prstGeom>
          <a:solidFill>
            <a:srgbClr val="9B5DE5">
              <a:alpha val="25000"/>
            </a:srgbClr>
          </a:solidFill>
          <a:ln w="6350">
            <a:solidFill>
              <a:srgbClr val="9B5DE5">
                <a:alpha val="5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13248" y="20848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Wk 2–3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754880" y="2496312"/>
            <a:ext cx="4160520" cy="1115568"/>
          </a:xfrm>
          <a:prstGeom prst="rect">
            <a:avLst/>
          </a:prstGeom>
          <a:solidFill>
            <a:srgbClr val="0E2235"/>
          </a:solidFill>
          <a:ln w="12700">
            <a:solidFill>
              <a:srgbClr val="1C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54880" y="2496312"/>
            <a:ext cx="73152" cy="11155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919472" y="2642616"/>
            <a:ext cx="384048" cy="38404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19472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13248" y="26243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5413248" y="2953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using RMSE, MAE, Silhouette, F1, ROC-AUC against baselines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413248" y="3346704"/>
            <a:ext cx="1261872" cy="201168"/>
          </a:xfrm>
          <a:prstGeom prst="roundRect">
            <a:avLst>
              <a:gd name="adj" fmla="val 22727"/>
            </a:avLst>
          </a:prstGeom>
          <a:solidFill>
            <a:srgbClr val="EF476F">
              <a:alpha val="25000"/>
            </a:srgbClr>
          </a:solidFill>
          <a:ln w="6350">
            <a:solidFill>
              <a:srgbClr val="EF476F">
                <a:alpha val="5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13248" y="33467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Wk 3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754880" y="3758184"/>
            <a:ext cx="4160520" cy="1115568"/>
          </a:xfrm>
          <a:prstGeom prst="rect">
            <a:avLst/>
          </a:prstGeom>
          <a:solidFill>
            <a:srgbClr val="0E2235"/>
          </a:solidFill>
          <a:ln w="12700">
            <a:solidFill>
              <a:srgbClr val="1C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754880" y="3758184"/>
            <a:ext cx="73152" cy="1115568"/>
          </a:xfrm>
          <a:prstGeom prst="rect">
            <a:avLst/>
          </a:prstGeom>
          <a:solidFill>
            <a:srgbClr val="90AFC5"/>
          </a:solidFill>
          <a:ln w="12700">
            <a:solidFill>
              <a:srgbClr val="90AFC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919472" y="3904488"/>
            <a:ext cx="384048" cy="384048"/>
          </a:xfrm>
          <a:prstGeom prst="ellipse">
            <a:avLst/>
          </a:prstGeom>
          <a:solidFill>
            <a:srgbClr val="90AFC5"/>
          </a:solidFill>
          <a:ln w="12700">
            <a:solidFill>
              <a:srgbClr val="90AFC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919472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5413248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5413248" y="42153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filters, one chart per technique, Business Insights panel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413248" y="4608576"/>
            <a:ext cx="1261872" cy="201168"/>
          </a:xfrm>
          <a:prstGeom prst="roundRect">
            <a:avLst>
              <a:gd name="adj" fmla="val 22727"/>
            </a:avLst>
          </a:prstGeom>
          <a:solidFill>
            <a:srgbClr val="90AFC5">
              <a:alpha val="25000"/>
            </a:srgbClr>
          </a:solidFill>
          <a:ln w="6350">
            <a:solidFill>
              <a:srgbClr val="90AFC5">
                <a:alpha val="50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413248" y="460857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Wk 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Technique Selection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2344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234440"/>
            <a:ext cx="41605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298448"/>
            <a:ext cx="4160520" cy="384048"/>
          </a:xfrm>
          <a:prstGeom prst="rect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258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48840" y="13258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+  DBSCAN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176479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behavioral usage profiles (e.g. 'high morning load' vs 'flat all-day'). DBSCAN handles noise &amp; irregular shapes without fixed 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606040"/>
            <a:ext cx="3886200" cy="274320"/>
          </a:xfrm>
          <a:prstGeom prst="rect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2615184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Silhouette Score  ·  Davies-Bouldin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54880" y="12344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234440"/>
            <a:ext cx="416052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1298448"/>
            <a:ext cx="4160520" cy="384048"/>
          </a:xfrm>
          <a:prstGeom prst="rect">
            <a:avLst/>
          </a:prstGeom>
          <a:solidFill>
            <a:srgbClr val="FFB703">
              <a:alpha val="12000"/>
            </a:srgbClr>
          </a:solidFill>
          <a:ln w="6350">
            <a:solidFill>
              <a:srgbClr val="FFB703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13258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13258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 +  Polynomial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92040" y="1764792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next-hour consumption from lagged features. Ridge handles correlated lag variables; Polynomial captures the non-linear intra-day curve.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92040" y="2606040"/>
            <a:ext cx="3886200" cy="274320"/>
          </a:xfrm>
          <a:prstGeom prst="rect">
            <a:avLst/>
          </a:prstGeom>
          <a:solidFill>
            <a:srgbClr val="FFB703">
              <a:alpha val="12000"/>
            </a:srgbClr>
          </a:solidFill>
          <a:ln w="6350">
            <a:solidFill>
              <a:srgbClr val="FFB703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9472" y="2615184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RMSE  ·  MAPE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0040" y="3118104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3118104"/>
            <a:ext cx="416052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" y="3182112"/>
            <a:ext cx="4160520" cy="384048"/>
          </a:xfrm>
          <a:prstGeom prst="rect">
            <a:avLst/>
          </a:prstGeom>
          <a:solidFill>
            <a:srgbClr val="06D6A0">
              <a:alpha val="12000"/>
            </a:srgbClr>
          </a:solidFill>
          <a:ln w="635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2095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148840" y="32095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 +  Isolation Forest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3648456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appliance faults, unexpected spikes, and wasteful events. PCA flags distance from principal components; Isolation Forest is model-based.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489704"/>
            <a:ext cx="3886200" cy="274320"/>
          </a:xfrm>
          <a:prstGeom prst="rect">
            <a:avLst/>
          </a:prstGeom>
          <a:solidFill>
            <a:srgbClr val="06D6A0">
              <a:alpha val="12000"/>
            </a:srgbClr>
          </a:solidFill>
          <a:ln w="635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" y="4498848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Precision  ·  Recall  ·  F1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54880" y="3118104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3118104"/>
            <a:ext cx="416052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54880" y="3182112"/>
            <a:ext cx="4160520" cy="384048"/>
          </a:xfrm>
          <a:prstGeom prst="rect">
            <a:avLst/>
          </a:prstGeom>
          <a:solidFill>
            <a:srgbClr val="EF476F">
              <a:alpha val="12000"/>
            </a:srgbClr>
          </a:solidFill>
          <a:ln w="6350">
            <a:solidFill>
              <a:srgbClr val="EF476F">
                <a:alpha val="3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92040" y="32095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583680" y="32095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92040" y="3648456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'high-consumption hour' (top 25th percentile). Feature importance reveals which sub-meters and time features drive peak demand.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892040" y="4489704"/>
            <a:ext cx="3886200" cy="274320"/>
          </a:xfrm>
          <a:prstGeom prst="rect">
            <a:avLst/>
          </a:prstGeom>
          <a:solidFill>
            <a:srgbClr val="EF476F">
              <a:alpha val="12000"/>
            </a:srgbClr>
          </a:solidFill>
          <a:ln w="6350">
            <a:solidFill>
              <a:srgbClr val="EF476F">
                <a:alpha val="3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19472" y="4498848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F1  ·  ROC-AUC  ·  Feature Importance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GitHub &amp; Environment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dm-final-energy-omar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020824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README.md  —  setup &amp; run instructions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35000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.gitignore  —  venv, __pycache__, data/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679192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requirements.txt  —  reproducible env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008376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/data  —  dataset (gitignored if large)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33756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/notebooks  —  Jupyter notebooks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666744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/dashboard  —  Streamlit app.py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99592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/reports  —  Phase 1 &amp; Phase 2 docs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00600" y="1234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00600" y="1664208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99048" y="1664208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99048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97496" y="1664208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97496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00600" y="2011680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99048" y="2011680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99048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seaborn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7496" y="2011680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97496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plotly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00600" y="2359152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99048" y="2359152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99048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7496" y="2359152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97496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00600" y="2706624"/>
            <a:ext cx="1188720" cy="274320"/>
          </a:xfrm>
          <a:prstGeom prst="rect">
            <a:avLst/>
          </a:prstGeom>
          <a:solidFill>
            <a:srgbClr val="0E2235"/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00600" y="2706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ucimlrepo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00600" y="31272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Next Steps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800600" y="3575304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93208" y="3566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EDA notebook with time-series plots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800600" y="3877056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93208" y="38679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data cleaning &amp; feature engineering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800600" y="4178808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93208" y="416966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 all 4 technique categories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800600" y="4480560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93208" y="447141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dashboard with all sections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800600" y="4782312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93208" y="477316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demo screencast for final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B703">
              <a:alpha val="10000"/>
            </a:srgbClr>
          </a:solidFill>
          <a:ln w="12700">
            <a:solidFill>
              <a:srgbClr val="FFB703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640080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1732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Prediction System  ·  Phase 1  ·  April 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2852928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Abdulaal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3794760"/>
            <a:ext cx="2377440" cy="822960"/>
          </a:xfrm>
          <a:prstGeom prst="rect">
            <a:avLst/>
          </a:prstGeom>
          <a:solidFill>
            <a:srgbClr val="0E2235"/>
          </a:solidFill>
          <a:ln w="10160">
            <a:solidFill>
              <a:srgbClr val="00B4D8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85800" y="41148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HPC  ·  2.07M records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3794760"/>
            <a:ext cx="2377440" cy="822960"/>
          </a:xfrm>
          <a:prstGeom prst="rect">
            <a:avLst/>
          </a:prstGeom>
          <a:solidFill>
            <a:srgbClr val="0E2235"/>
          </a:solidFill>
          <a:ln w="10160">
            <a:solidFill>
              <a:srgbClr val="00B4D8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8328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41148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Regression · Anomaly · Classification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80760" y="3794760"/>
            <a:ext cx="2377440" cy="822960"/>
          </a:xfrm>
          <a:prstGeom prst="rect">
            <a:avLst/>
          </a:prstGeom>
          <a:solidFill>
            <a:srgbClr val="0E2235"/>
          </a:solidFill>
          <a:ln w="10160">
            <a:solidFill>
              <a:srgbClr val="00B4D8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076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80760" y="41148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 +  GitHub Repo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742</Words>
  <Application>Microsoft Office PowerPoint</Application>
  <PresentationFormat>On-screen Show (16:9)</PresentationFormat>
  <Paragraphs>164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Prediction System — Phase 1</dc:title>
  <dc:subject>PptxGenJS Presentation</dc:subject>
  <dc:creator>PptxGenJS</dc:creator>
  <cp:lastModifiedBy>ZIAD MUHAMED MAHMOUD MOHAMED</cp:lastModifiedBy>
  <cp:revision>3</cp:revision>
  <dcterms:created xsi:type="dcterms:W3CDTF">2026-04-14T11:14:32Z</dcterms:created>
  <dcterms:modified xsi:type="dcterms:W3CDTF">2026-04-14T11:29:47Z</dcterms:modified>
</cp:coreProperties>
</file>