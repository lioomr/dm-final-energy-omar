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0"/>
            <a:ext cx="3959352" cy="3200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61120" y="0"/>
            <a:ext cx="3227832" cy="23774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2587752" cy="1645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0" y="0"/>
            <a:ext cx="1947672" cy="9144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858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Smart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6B6D4"/>
                </a:solidFill>
              </a:rPr>
              <a:t>Consumption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6B6D4"/>
                </a:solidFill>
              </a:rPr>
              <a:t>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37560"/>
            <a:ext cx="502920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CA3AF"/>
                </a:solidFill>
              </a:rPr>
              <a:t>Data Mining Course  —  Final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60520"/>
            <a:ext cx="2606040" cy="86868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42062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👤  Author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4480560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Omar Abdulaal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39" y="4160520"/>
            <a:ext cx="2606040" cy="86868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42062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👩‍🏫  Instructor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4480560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Mariam Labib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4160520"/>
            <a:ext cx="2606040" cy="86868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5" y="42062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📅  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8775" y="4480560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May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4160520"/>
            <a:ext cx="2606040" cy="86868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7696" y="42062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🔬 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4480560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CRISP-DM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Why does household energy analytics matter?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5440680" cy="493776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98448"/>
            <a:ext cx="544068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4416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166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Monthly bills give no insight into WHEN consumption peaks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No visibility into which appliances drive high-usage hours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Energy efficiency requires data — not guesses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Manual inspection of 2M+ rows is impractical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298448"/>
            <a:ext cx="5440680" cy="4937760"/>
          </a:xfrm>
          <a:prstGeom prst="rect">
            <a:avLst/>
          </a:prstGeom>
          <a:solidFill>
            <a:srgbClr val="1F29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98448"/>
            <a:ext cx="54406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4416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1410"/>
                </a:solidFill>
              </a:rPr>
              <a:t>✓  Our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5166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Turn raw meter readings into actionable insights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Identify peak hours and behavioral usage segments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Predict short-term consumption with regression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Classify high-usage periods for smart alerts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Deliver findings through an interactive dashboard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Dataset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Individual Household Electric Power Consumption  —  UCI / Kaggle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269748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98448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435607"/>
            <a:ext cx="2478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📊  1,048,575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56815"/>
            <a:ext cx="24780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Raw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298448"/>
            <a:ext cx="269748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298448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435607"/>
            <a:ext cx="2478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🔢  9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956815"/>
            <a:ext cx="24780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Raw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98448"/>
            <a:ext cx="269748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298448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435607"/>
            <a:ext cx="2478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⏱  1 /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1956815"/>
            <a:ext cx="24780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Sampling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98448"/>
            <a:ext cx="269748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298448"/>
            <a:ext cx="269748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7" y="1435607"/>
            <a:ext cx="24780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📅  Dec 2006–Dec 2008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7" y="1956815"/>
            <a:ext cx="24780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Date Range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78608"/>
            <a:ext cx="6583680" cy="365760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65176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Feature Description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17520"/>
            <a:ext cx="630936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1272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Global_active_power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127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kW   Total household active power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474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Global_reactive_power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kW   Reactive power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2219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Voltage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382219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V    Supply voltage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169663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Global_intensity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1696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A    Current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1713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Sub_metering_1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5171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Wh   Kitchen appliances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64607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Sub_metering_2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86460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Wh   Laundry appliances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Sub_metering_3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2120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Wh   Water heater / 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2578608"/>
            <a:ext cx="4617720" cy="365760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265176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Known Limitations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3017520"/>
            <a:ext cx="429768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0" y="3127248"/>
            <a:ext cx="4343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9CA3AF"/>
                </a:solidFill>
              </a:rPr>
              <a:t>›  Missing values: ~0.39% encoded as '?'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9CA3AF"/>
                </a:solidFill>
              </a:rPr>
              <a:t>›  Date and Time stored separately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9CA3AF"/>
                </a:solidFill>
              </a:rPr>
              <a:t>›  No weather or occupancy data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9CA3AF"/>
                </a:solidFill>
              </a:rPr>
              <a:t>›  Single household — not generalizable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9CA3AF"/>
                </a:solidFill>
              </a:rPr>
              <a:t>›  No tariff / pricing information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Methodology: 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Six-phase iterative data mining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98448"/>
            <a:ext cx="1810512" cy="329184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81051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417320"/>
            <a:ext cx="621792" cy="621792"/>
          </a:xfrm>
          <a:prstGeom prst="rect">
            <a:avLst/>
          </a:prstGeom>
          <a:solidFill>
            <a:srgbClr val="0A122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4173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B6D4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21408"/>
            <a:ext cx="16642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Business
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724912"/>
            <a:ext cx="16642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Define objectives,
research questions,
success criteria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9112" y="26060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6B6D4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58568" y="1298448"/>
            <a:ext cx="1810512" cy="329184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58568" y="1298448"/>
            <a:ext cx="181051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52927" y="1417320"/>
            <a:ext cx="621792" cy="621792"/>
          </a:xfrm>
          <a:prstGeom prst="rect">
            <a:avLst/>
          </a:prstGeom>
          <a:solidFill>
            <a:srgbClr val="0A122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14173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B6D4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121408"/>
            <a:ext cx="16642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Data
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724912"/>
            <a:ext cx="16642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Explore distributions,
missing values,
initial patterns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26060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6B6D4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42816" y="1298448"/>
            <a:ext cx="1810512" cy="329184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42816" y="1298448"/>
            <a:ext cx="181051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37176" y="1417320"/>
            <a:ext cx="621792" cy="621792"/>
          </a:xfrm>
          <a:prstGeom prst="rect">
            <a:avLst/>
          </a:prstGeom>
          <a:solidFill>
            <a:srgbClr val="0A122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6" y="14173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B6D4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121408"/>
            <a:ext cx="16642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Data
Preparation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2724912"/>
            <a:ext cx="16642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Clean, resample hourly,
engineer 22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26060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6B6D4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7064" y="1298448"/>
            <a:ext cx="1810512" cy="3291840"/>
          </a:xfrm>
          <a:prstGeom prst="rect">
            <a:avLst/>
          </a:prstGeom>
          <a:solidFill>
            <a:srgbClr val="1F29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7064" y="1298448"/>
            <a:ext cx="181051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21424" y="1417320"/>
            <a:ext cx="621792" cy="621792"/>
          </a:xfrm>
          <a:prstGeom prst="rect">
            <a:avLst/>
          </a:prstGeom>
          <a:solidFill>
            <a:srgbClr val="0A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14173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2121408"/>
            <a:ext cx="16642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Modelling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2724912"/>
            <a:ext cx="16642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Clustering, regression,
classification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26060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6B6D4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11312" y="1298448"/>
            <a:ext cx="1810512" cy="3291840"/>
          </a:xfrm>
          <a:prstGeom prst="rect">
            <a:avLst/>
          </a:prstGeom>
          <a:solidFill>
            <a:srgbClr val="1F29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11312" y="1298448"/>
            <a:ext cx="181051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05672" y="1417320"/>
            <a:ext cx="621792" cy="621792"/>
          </a:xfrm>
          <a:prstGeom prst="rect">
            <a:avLst/>
          </a:prstGeom>
          <a:solidFill>
            <a:srgbClr val="0A12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05672" y="14173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4464" y="2121408"/>
            <a:ext cx="16642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4464" y="2724912"/>
            <a:ext cx="16642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MAE, RMSE, R²,
silhouette, accuracy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6104" y="26060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6B6D4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95560" y="1298448"/>
            <a:ext cx="1810512" cy="3291840"/>
          </a:xfrm>
          <a:prstGeom prst="rect">
            <a:avLst/>
          </a:prstGeom>
          <a:solidFill>
            <a:srgbClr val="1F29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95560" y="1298448"/>
            <a:ext cx="181051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89920" y="1417320"/>
            <a:ext cx="621792" cy="621792"/>
          </a:xfrm>
          <a:prstGeom prst="rect">
            <a:avLst/>
          </a:prstGeom>
          <a:solidFill>
            <a:srgbClr val="0A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789920" y="14173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2121408"/>
            <a:ext cx="16642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2724912"/>
            <a:ext cx="16642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CA3AF"/>
                </a:solidFill>
              </a:rPr>
              <a:t>Streamlit dashboard
5 interactive sections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0352" y="260604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6B6D4"/>
                </a:solidFill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800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Deliverables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212080"/>
            <a:ext cx="1801368" cy="685800"/>
          </a:xfrm>
          <a:prstGeom prst="rect">
            <a:avLst/>
          </a:prstGeom>
          <a:solidFill>
            <a:srgbClr val="0A1A30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5230368"/>
            <a:ext cx="1673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01_Business
Understanding.ipynb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31720" y="5212080"/>
            <a:ext cx="1801368" cy="685800"/>
          </a:xfrm>
          <a:prstGeom prst="rect">
            <a:avLst/>
          </a:prstGeom>
          <a:solidFill>
            <a:srgbClr val="0A1A30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95727" y="5230368"/>
            <a:ext cx="1673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02_Data
Understanding.ipynb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97679" y="5212080"/>
            <a:ext cx="1801368" cy="685800"/>
          </a:xfrm>
          <a:prstGeom prst="rect">
            <a:avLst/>
          </a:prstGeom>
          <a:solidFill>
            <a:srgbClr val="0A1A30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61688" y="5230368"/>
            <a:ext cx="1673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03_Data
Preparation.ipynb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5212080"/>
            <a:ext cx="1801368" cy="685800"/>
          </a:xfrm>
          <a:prstGeom prst="rect">
            <a:avLst/>
          </a:prstGeom>
          <a:solidFill>
            <a:srgbClr val="0A1A30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27648" y="5230368"/>
            <a:ext cx="1673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04_Modelling
.ipynb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5212080"/>
            <a:ext cx="1801368" cy="685800"/>
          </a:xfrm>
          <a:prstGeom prst="rect">
            <a:avLst/>
          </a:prstGeom>
          <a:solidFill>
            <a:srgbClr val="0A1A30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93608" y="5230368"/>
            <a:ext cx="1673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05_Evaluation
.ipynb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95560" y="5212080"/>
            <a:ext cx="1801368" cy="685800"/>
          </a:xfrm>
          <a:prstGeom prst="rect">
            <a:avLst/>
          </a:prstGeom>
          <a:solidFill>
            <a:srgbClr val="0A1A30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59568" y="5230368"/>
            <a:ext cx="1673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06_Deployment
+ Dashboard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Data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1,048,575 raw minutes  →  17,477 clean hourly rows  ·  22 features  ·  0 missing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98448"/>
            <a:ext cx="5532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Combine Date + Time → single datetime index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Cast all columns numeric, treat '?' as NaN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Remove exact duplicate timestamps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Time-based linear interpolation for gaps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Engineer: hour, day_of_week, month, is_weekend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298448"/>
            <a:ext cx="36576" cy="420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298448"/>
            <a:ext cx="5532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Engineer: sub_metering_total_wh, active_energy_wh, unmetered_energy_wh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Resample minutes → hourly (mean power, sum energy)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Create high_consumption label (top quartile = 1)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Add lag_1, lag_2, lag_24 features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›  Add rolling_3_mean, rolling_24_mean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1F29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65099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💡  Why hourly?  Minute-level data is large and noisy. Hourly aggregation reduces noise, speeds up model training, and makes daily usage cycles visually clear without losing predictive signal.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Modelling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Three data mining categories applied to hourly household consumption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98448"/>
            <a:ext cx="3794760" cy="51663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3794760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344168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1014"/>
                </a:solidFill>
              </a:rPr>
              <a:t>🔵 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783080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B6D4"/>
                </a:solidFill>
              </a:rPr>
              <a:t>K-Means  |  DBSCAN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176272"/>
            <a:ext cx="35387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CA3AF"/>
                </a:solidFill>
              </a:rPr>
              <a:t>Group similar hourly consumption
behavior into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761488"/>
            <a:ext cx="3538728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834640"/>
            <a:ext cx="353872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K-Means tested for k = 2 – 5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Best k selected by silhouette score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DBSCAN detects dense regions + noise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PCA 2D projection for visualization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3 clusters: Low Weekday, Low Weekend, Peak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7" y="1298448"/>
            <a:ext cx="3794760" cy="5166360"/>
          </a:xfrm>
          <a:prstGeom prst="rect">
            <a:avLst/>
          </a:prstGeom>
          <a:solidFill>
            <a:srgbClr val="1F29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7407" y="1298448"/>
            <a:ext cx="3794760" cy="4389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3" y="1344168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1014"/>
                </a:solidFill>
              </a:rPr>
              <a:t>🟢 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3" y="1783080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</a:rPr>
              <a:t>Linear  |  Ridge  |  Poly 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3" y="2176272"/>
            <a:ext cx="35387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CA3AF"/>
                </a:solidFill>
              </a:rPr>
              <a:t>Predict hourly global active
power from time + lag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3" y="2761488"/>
            <a:ext cx="3538728" cy="27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3" y="2834640"/>
            <a:ext cx="353872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Chronological 80 / 20 split (no shuffle)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Lag features prevent target leakage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Polynomial degree = 2 captures non-linearity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Best: Polynomial Ridge  R² = 0.633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40496" y="1298448"/>
            <a:ext cx="3794760" cy="5166360"/>
          </a:xfrm>
          <a:prstGeom prst="rect">
            <a:avLst/>
          </a:prstGeom>
          <a:solidFill>
            <a:srgbClr val="1F29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40496" y="1298448"/>
            <a:ext cx="3794760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1344168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1014"/>
                </a:solidFill>
              </a:rPr>
              <a:t>🟡 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1783080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</a:rPr>
              <a:t>Logistic Reg.  |  Random Forest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8512" y="2176272"/>
            <a:ext cx="35387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CA3AF"/>
                </a:solidFill>
              </a:rPr>
              <a:t>Label each hour as high vs
normal consumption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2" y="2761488"/>
            <a:ext cx="3538728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68512" y="2834640"/>
            <a:ext cx="353872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Target: top quartile of power = 1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Stratified 80 / 20 split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12 behavior features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RF feature importance extracted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Best: Logistic Regression  99.77%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Evaluation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Full-dataset results from 17,477 hourly rows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5029200" cy="2743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14800"/>
            <a:ext cx="502920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1298448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Classification  —  Full Dataset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737360"/>
            <a:ext cx="603504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1828800"/>
            <a:ext cx="6035040" cy="384048"/>
          </a:xfrm>
          <a:prstGeom prst="rect">
            <a:avLst/>
          </a:prstGeom>
          <a:solidFill>
            <a:srgbClr val="2A220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18745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★  Logistic 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7451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</a:rPr>
              <a:t>Acc 99.77%   P/R 1.00 / 1.00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286000"/>
            <a:ext cx="6035040" cy="384048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2331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   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331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Acc 99.57%   P/R 0.99 / 0.99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063240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A3AF"/>
                </a:solidFill>
              </a:rPr>
              <a:t>PCA Feature Variance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493008"/>
            <a:ext cx="603504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3611880"/>
            <a:ext cx="6035040" cy="2926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Interactive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Streamlit  ·  5 sections  ·  Tech Blue theme  ·  Deployed to Streamlit Community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2249424" cy="2194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2249424" cy="384048"/>
          </a:xfrm>
          <a:prstGeom prst="rect">
            <a:avLst/>
          </a:prstGeom>
          <a:solidFill>
            <a:srgbClr val="084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344168"/>
            <a:ext cx="2029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📈 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737360"/>
            <a:ext cx="202996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Time-series, hourly profile,
energy share pie,
weekday vs weekend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1298448"/>
            <a:ext cx="2249424" cy="2194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80" y="1298448"/>
            <a:ext cx="2249424" cy="384048"/>
          </a:xfrm>
          <a:prstGeom prst="rect">
            <a:avLst/>
          </a:prstGeom>
          <a:solidFill>
            <a:srgbClr val="084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208" y="1344168"/>
            <a:ext cx="2029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🔵  Clustering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1737360"/>
            <a:ext cx="202996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Silhouette table,
cluster profile,
PCA scatter + heatmap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298448"/>
            <a:ext cx="2249424" cy="2194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298448"/>
            <a:ext cx="2249424" cy="384048"/>
          </a:xfrm>
          <a:prstGeom prst="rect">
            <a:avLst/>
          </a:prstGeom>
          <a:solidFill>
            <a:srgbClr val="084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1344168"/>
            <a:ext cx="2029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📉 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1737360"/>
            <a:ext cx="202996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RMSE comparison
+ Actual vs Predicted
time-series plot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1298448"/>
            <a:ext cx="2249424" cy="2194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1298448"/>
            <a:ext cx="2249424" cy="384048"/>
          </a:xfrm>
          <a:prstGeom prst="rect">
            <a:avLst/>
          </a:prstGeom>
          <a:solidFill>
            <a:srgbClr val="084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2088" y="1344168"/>
            <a:ext cx="2029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🎯  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1737360"/>
            <a:ext cx="202996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Accuracy table,
classification report,
RF feature importance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298448"/>
            <a:ext cx="2249424" cy="2194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298448"/>
            <a:ext cx="2249424" cy="384048"/>
          </a:xfrm>
          <a:prstGeom prst="rect">
            <a:avLst/>
          </a:prstGeom>
          <a:solidFill>
            <a:srgbClr val="084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9528" y="1344168"/>
            <a:ext cx="2029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💡  Business Insights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9528" y="1737360"/>
            <a:ext cx="202996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Peak hour,
consumption share,
PCA + recommendations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03320"/>
            <a:ext cx="11521440" cy="2743200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3703320"/>
            <a:ext cx="11521440" cy="347472"/>
          </a:xfrm>
          <a:prstGeom prst="rect">
            <a:avLst/>
          </a:prstGeom>
          <a:solidFill>
            <a:srgbClr val="0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49039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📷  Dashboard Screenshot  —  Insert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3891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74151"/>
                </a:solidFill>
              </a:rPr>
              <a:t>[ Paste a screenshot of your running Streamlit dashboard 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Business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94944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CA3AF"/>
                </a:solidFill>
              </a:rPr>
              <a:t>Actionable findings from the dashboard and model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320040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98448"/>
            <a:ext cx="320040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435607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⏰  20:00 – 21:00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56815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Peak Consumption Hour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1298448"/>
            <a:ext cx="320040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1298448"/>
            <a:ext cx="320040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58768" y="1435607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⚡  1.106 kW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956815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Average Active Power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298448"/>
            <a:ext cx="3200400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0" y="1298448"/>
            <a:ext cx="320040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1435607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EF4444"/>
                </a:solidFill>
              </a:rPr>
              <a:t>📈  6.560 kW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1956815"/>
            <a:ext cx="2980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Peak Active Power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1298448"/>
            <a:ext cx="1664208" cy="1051560"/>
          </a:xfrm>
          <a:prstGeom prst="rect">
            <a:avLst/>
          </a:prstGeom>
          <a:solidFill>
            <a:srgbClr val="1F29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149840" y="1298448"/>
            <a:ext cx="1664208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9567" y="1435607"/>
            <a:ext cx="1444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6B6D4"/>
                </a:solidFill>
              </a:rPr>
              <a:t>🔥  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9567" y="1956815"/>
            <a:ext cx="1444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High Consumption Share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42032"/>
            <a:ext cx="5486400" cy="39319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080760" y="2542032"/>
            <a:ext cx="5760720" cy="3931920"/>
          </a:xfrm>
          <a:prstGeom prst="rect">
            <a:avLst/>
          </a:prstGeom>
          <a:solidFill>
            <a:srgbClr val="1F29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2542032"/>
            <a:ext cx="5760720" cy="384048"/>
          </a:xfrm>
          <a:prstGeom prst="rect">
            <a:avLst/>
          </a:prstGeom>
          <a:solidFill>
            <a:srgbClr val="04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587752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✅  Recommendations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Shift laundry and dishwashers away from 19:00–22:00 peak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Sub-metering shows which appliance (kitchen / laundry / HVAC) drives load — target the highest first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Use the RF classifier as a simple household consumption alert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Cluster 2 (Peak Usage, 2.59 kW avg) peaks mid-afternoon — high usage is not only an evening event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FFFFF"/>
                </a:solidFill>
              </a:rPr>
              <a:t>›  Weekend usage is structurally different — separate optimization strategies apply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B6D4"/>
                </a:solidFill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5440680" cy="4937760"/>
          </a:xfrm>
          <a:prstGeom prst="rect">
            <a:avLst/>
          </a:prstGeom>
          <a:solidFill>
            <a:srgbClr val="1F293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5440680" cy="384048"/>
          </a:xfrm>
          <a:prstGeom prst="rect">
            <a:avLst/>
          </a:prstGeom>
          <a:solidFill>
            <a:srgbClr val="3A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4416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⚠ 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Single household — not directly generalizable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No weather, occupancy, or tariff data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Baseline models — not production forecasters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High accuracy reflects feature-label correlation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Local CSV may not cover full public dataset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298448"/>
            <a:ext cx="5440680" cy="4937760"/>
          </a:xfrm>
          <a:prstGeom prst="rect">
            <a:avLst/>
          </a:prstGeom>
          <a:solidFill>
            <a:srgbClr val="1F29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298448"/>
            <a:ext cx="5440680" cy="384048"/>
          </a:xfrm>
          <a:prstGeom prst="rect">
            <a:avLst/>
          </a:prstGeom>
          <a:solidFill>
            <a:srgbClr val="04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4416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🚀 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Add weather and temperature features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Incorporate tariff / pricing data for cost analysis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Apply LSTM or Prophet for time-series forecasting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Expand to multi-household comparison datasets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Real-time smart meter integration and alerts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›  Association rule mining for appliance co-usage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B6D4"/>
                </a:solidFill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53312"/>
            <a:ext cx="11430000" cy="658368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53312"/>
            <a:ext cx="6400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0817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✓  Complete CRISP-DM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408176"/>
            <a:ext cx="7543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Delivered across 6 ordered notebooks from business understanding to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03120"/>
            <a:ext cx="11430000" cy="658368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6400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579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✓  All 3 mining categories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157984"/>
            <a:ext cx="7543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Clustering, regression, and classification implemented and evaluated on real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52927"/>
            <a:ext cx="11430000" cy="658368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852927"/>
            <a:ext cx="6400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0779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✓  Polynomial Ridge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907791"/>
            <a:ext cx="7543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Explains 63.3% of hourly power variation using lag + time features  (R² = 0.633)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02735"/>
            <a:ext cx="11430000" cy="658368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602735"/>
            <a:ext cx="6400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5759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✓  Classification 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657599"/>
            <a:ext cx="7543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Logistic Regression identifies high-consumption hours at 99.77% accuracy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52544"/>
            <a:ext cx="11430000" cy="658368"/>
          </a:xfrm>
          <a:prstGeom prst="rect">
            <a:avLst/>
          </a:prstGeom>
          <a:solidFill>
            <a:srgbClr val="1F2937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52544"/>
            <a:ext cx="6400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7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✓  Interactive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407407"/>
            <a:ext cx="7543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5 sections turn model outputs into actionable household energy recommendations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212080"/>
            <a:ext cx="11430000" cy="914400"/>
          </a:xfrm>
          <a:prstGeom prst="rect">
            <a:avLst/>
          </a:prstGeom>
          <a:solidFill>
            <a:srgbClr val="1F29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212080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669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💡  Key Insight: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5266944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Peak electricity usage concentrates in 20:00–21:00 evening hours. Shifting heavy appliances (laundry, dishwasher) out of this window is the most impactful behavioral change available to the household.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