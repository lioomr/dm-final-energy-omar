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88952" cy="54864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Smart Energy Consumption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A8FF"/>
                </a:solidFill>
              </a:rPr>
              <a:t>Analytics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</a:rPr>
              <a:t>Data Mining Course  —  Final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108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CCCC"/>
                </a:solidFill>
              </a:rPr>
              <a:t>Author: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4564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Omar Abdulaal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108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CCCC"/>
                </a:solidFill>
              </a:rPr>
              <a:t>Instructor: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4564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Mariam Labib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108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CCCC"/>
                </a:solidFill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4564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3108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CCCC"/>
                </a:solidFill>
              </a:rPr>
              <a:t>Method: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34564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CRISP-DM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8FF"/>
                </a:solidFill>
              </a:rPr>
              <a:t>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Why does household energy analytics matter?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5555"/>
                </a:solidFill>
              </a:rPr>
              <a:t>The Problem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►  Households receive monthly bills with no insight into WHEN consumption peaks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►  No visibility into which appliances drive high-usage hours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►  No way to detect abnormal spikes without manual inspection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►  Energy efficiency requires data — not guesses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C66"/>
                </a:solidFill>
              </a:rPr>
              <a:t>Our Approach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►  Turn raw meter readings into actionable insights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►  Identify peak hours and behavioral segments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►  Predict short-term consumption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►  Classify high-usage periods for alerts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►  Detect anomalies for investigation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371600"/>
            <a:ext cx="36576" cy="4572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8FF"/>
                </a:solidFill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Individual Household Electric Power Consumption  —  UCI / Kaggle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560320" cy="1005840"/>
          </a:xfrm>
          <a:prstGeom prst="rect">
            <a:avLst/>
          </a:prstGeom>
          <a:solidFill>
            <a:srgbClr val="142844"/>
          </a:solidFill>
          <a:ln w="12700">
            <a:solidFill>
              <a:srgbClr val="00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426464"/>
            <a:ext cx="24140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8FF"/>
                </a:solidFill>
              </a:rPr>
              <a:t>1,048,575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938528"/>
            <a:ext cx="24140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Raw Rows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371600"/>
            <a:ext cx="2560320" cy="1005840"/>
          </a:xfrm>
          <a:prstGeom prst="rect">
            <a:avLst/>
          </a:prstGeom>
          <a:solidFill>
            <a:srgbClr val="142844"/>
          </a:solidFill>
          <a:ln w="12700">
            <a:solidFill>
              <a:srgbClr val="00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82112" y="1426464"/>
            <a:ext cx="24140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8FF"/>
                </a:solidFill>
              </a:rPr>
              <a:t>9 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1938528"/>
            <a:ext cx="24140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371600"/>
            <a:ext cx="2560320" cy="1005840"/>
          </a:xfrm>
          <a:prstGeom prst="rect">
            <a:avLst/>
          </a:prstGeom>
          <a:solidFill>
            <a:srgbClr val="142844"/>
          </a:solidFill>
          <a:ln w="12700">
            <a:solidFill>
              <a:srgbClr val="00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25312" y="1426464"/>
            <a:ext cx="24140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8FF"/>
                </a:solidFill>
              </a:rPr>
              <a:t>1 / minute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5312" y="1938528"/>
            <a:ext cx="24140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Sampling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1371600"/>
            <a:ext cx="2560320" cy="1005840"/>
          </a:xfrm>
          <a:prstGeom prst="rect">
            <a:avLst/>
          </a:prstGeom>
          <a:solidFill>
            <a:srgbClr val="142844"/>
          </a:solidFill>
          <a:ln w="12700">
            <a:solidFill>
              <a:srgbClr val="00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8512" y="1426464"/>
            <a:ext cx="24140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8FF"/>
                </a:solidFill>
              </a:rPr>
              <a:t>Dec 2006–Dec 2008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8512" y="1938528"/>
            <a:ext cx="24140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Local Date 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65176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000"/>
                </a:solidFill>
              </a:rPr>
              <a:t>Features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►  Global_active_power (kW)   —  total household active power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►  Global_reactive_power (kW)  —  reactive power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►  Voltage (V)                 —  supply voltage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►  Global_intensity (A)        —  current intensity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►  Sub_metering_1 (Wh)        —  kitchen appliances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►  Sub_metering_2 (Wh)        —  laundry appliances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►  Sub_metering_3 (Wh)        —  water heater / 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65176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555"/>
                </a:solidFill>
              </a:rPr>
              <a:t>Known Issues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►  Missing values: ~0.39% encoded as '?'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►  Date and Time stored in separate columns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►  No weather, occupancy, or tariff data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►  Single household — not directly generalizable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⚠  Dashboard sample mode uses 2006-12-16 to 2007-02-24 (100k rows) for cloud performance.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8FF"/>
                </a:solidFill>
              </a:rPr>
              <a:t>Methodology: CRISP-DM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Six-phase iterative data mining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1828800" cy="1371600"/>
          </a:xfrm>
          <a:prstGeom prst="rect">
            <a:avLst/>
          </a:prstGeom>
          <a:solidFill>
            <a:srgbClr val="142844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417320"/>
            <a:ext cx="16824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FF"/>
                </a:solidFill>
              </a:rPr>
              <a:t>1  Business
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2121408"/>
            <a:ext cx="16824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Define objectives, research questions, success criteria</a:t>
            </a:r>
          </a:p>
        </p:txBody>
      </p:sp>
      <p:sp>
        <p:nvSpPr>
          <p:cNvPr id="9" name="Rectangle 8"/>
          <p:cNvSpPr/>
          <p:nvPr/>
        </p:nvSpPr>
        <p:spPr>
          <a:xfrm>
            <a:off x="2313432" y="1371600"/>
            <a:ext cx="1828800" cy="1371600"/>
          </a:xfrm>
          <a:prstGeom prst="rect">
            <a:avLst/>
          </a:prstGeom>
          <a:solidFill>
            <a:srgbClr val="142844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6584" y="1417320"/>
            <a:ext cx="16824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FF"/>
                </a:solidFill>
              </a:rPr>
              <a:t>2  Data
Understanding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6584" y="2121408"/>
            <a:ext cx="16824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Explore distributions, missing values, initial patterns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6824" y="1371600"/>
            <a:ext cx="1828800" cy="1371600"/>
          </a:xfrm>
          <a:prstGeom prst="rect">
            <a:avLst/>
          </a:prstGeom>
          <a:solidFill>
            <a:srgbClr val="142844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6" y="1417320"/>
            <a:ext cx="16824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FF"/>
                </a:solidFill>
              </a:rPr>
              <a:t>3  Data
Preparation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2121408"/>
            <a:ext cx="16824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Clean, resample to hourly, engineer 22 features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216" y="1371600"/>
            <a:ext cx="1828800" cy="1371600"/>
          </a:xfrm>
          <a:prstGeom prst="rect">
            <a:avLst/>
          </a:prstGeom>
          <a:solidFill>
            <a:srgbClr val="142844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417320"/>
            <a:ext cx="16824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FF"/>
                </a:solidFill>
              </a:rPr>
              <a:t>4  Modelling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121408"/>
            <a:ext cx="16824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Train clustering, regression, classification, anomaly 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93608" y="1371600"/>
            <a:ext cx="1828800" cy="1371600"/>
          </a:xfrm>
          <a:prstGeom prst="rect">
            <a:avLst/>
          </a:prstGeom>
          <a:solidFill>
            <a:srgbClr val="142844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417320"/>
            <a:ext cx="16824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FF"/>
                </a:solidFill>
              </a:rPr>
              <a:t>5 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121408"/>
            <a:ext cx="16824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Compare models with MAE, RMSE, R², silhouette, accuracy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87000" y="1371600"/>
            <a:ext cx="1828800" cy="1371600"/>
          </a:xfrm>
          <a:prstGeom prst="rect">
            <a:avLst/>
          </a:prstGeom>
          <a:solidFill>
            <a:srgbClr val="142844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60152" y="1417320"/>
            <a:ext cx="16824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FF"/>
                </a:solidFill>
              </a:rPr>
              <a:t>6 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0152" y="2121408"/>
            <a:ext cx="16824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Deliver Streamlit dashboard with 6 interactive sections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1874519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A8FF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5072" y="1874519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A8FF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98464" y="1874519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A8FF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1856" y="1874519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A8FF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85248" y="1874519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A8FF"/>
                </a:solidFill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017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000"/>
                </a:solidFill>
              </a:rPr>
              <a:t>Deliverables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474720"/>
            <a:ext cx="1783080" cy="502920"/>
          </a:xfrm>
          <a:prstGeom prst="rect">
            <a:avLst/>
          </a:prstGeom>
          <a:solidFill>
            <a:srgbClr val="0A1A30"/>
          </a:solidFill>
          <a:ln w="12700">
            <a:solidFill>
              <a:srgbClr val="00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3520440"/>
            <a:ext cx="1673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01_Business_Understanding.ipynb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31720" y="3474720"/>
            <a:ext cx="1783080" cy="502920"/>
          </a:xfrm>
          <a:prstGeom prst="rect">
            <a:avLst/>
          </a:prstGeom>
          <a:solidFill>
            <a:srgbClr val="0A1A30"/>
          </a:solidFill>
          <a:ln w="12700">
            <a:solidFill>
              <a:srgbClr val="00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6584" y="3520440"/>
            <a:ext cx="1673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02_Data_Understanding.ipynb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79" y="3474720"/>
            <a:ext cx="1783080" cy="502920"/>
          </a:xfrm>
          <a:prstGeom prst="rect">
            <a:avLst/>
          </a:prstGeom>
          <a:solidFill>
            <a:srgbClr val="0A1A30"/>
          </a:solidFill>
          <a:ln w="12700">
            <a:solidFill>
              <a:srgbClr val="00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52543" y="3520440"/>
            <a:ext cx="1673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03_Data_Preparation.ipynb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474720"/>
            <a:ext cx="1783080" cy="502920"/>
          </a:xfrm>
          <a:prstGeom prst="rect">
            <a:avLst/>
          </a:prstGeom>
          <a:solidFill>
            <a:srgbClr val="0A1A30"/>
          </a:solidFill>
          <a:ln w="12700">
            <a:solidFill>
              <a:srgbClr val="00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18503" y="3520440"/>
            <a:ext cx="1673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04_Modelling.ipynb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3474720"/>
            <a:ext cx="1783080" cy="502920"/>
          </a:xfrm>
          <a:prstGeom prst="rect">
            <a:avLst/>
          </a:prstGeom>
          <a:solidFill>
            <a:srgbClr val="0A1A30"/>
          </a:solidFill>
          <a:ln w="12700">
            <a:solidFill>
              <a:srgbClr val="00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84464" y="3520440"/>
            <a:ext cx="1673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05_Evaluation.ipynb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95560" y="3474720"/>
            <a:ext cx="1783080" cy="502920"/>
          </a:xfrm>
          <a:prstGeom prst="rect">
            <a:avLst/>
          </a:prstGeom>
          <a:solidFill>
            <a:srgbClr val="0A1A30"/>
          </a:solidFill>
          <a:ln w="12700">
            <a:solidFill>
              <a:srgbClr val="00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50424" y="3520440"/>
            <a:ext cx="1673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06_Deployment.ipynb  +  Streamlit Dashboard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8FF"/>
                </a:solidFill>
              </a:rPr>
              <a:t>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From 1,048,575 raw minutes  →  17,477 clean hourly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Combine Date + Time → single datetime index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Cast numeric columns, treat '?' as NaN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Remove duplicate timestamps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Time-based interpolation for missing values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Engineer: hour, day_of_week, month, is_weekend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Engineer: sub_metering_total_wh, active_energy_wh, unmetered_energy_wh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Resample minutes → hourly (mean power, sum energy)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Create high_consumption label (top quartile = 1)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Add lag_1, lag_2, lag_24, rolling_3_mean, rolling_24_mean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Final: 17,477 rows × 22 columns, 0 missing values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371600"/>
            <a:ext cx="36576" cy="438912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5394960"/>
            <a:ext cx="10972800" cy="777240"/>
          </a:xfrm>
          <a:prstGeom prst="rect">
            <a:avLst/>
          </a:prstGeom>
          <a:solidFill>
            <a:srgbClr val="0A2244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440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000"/>
                </a:solidFill>
              </a:rPr>
              <a:t>Why hourly resampling?  Minute-level data is large and noisy. Hourly aggregation reduces noise, speeds up training, and makes daily cycles visually clear.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8FF"/>
                </a:solidFill>
              </a:rPr>
              <a:t>Modelling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Four data mining categories applied to hourly consumption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697480" cy="4937760"/>
          </a:xfrm>
          <a:prstGeom prst="rect">
            <a:avLst/>
          </a:prstGeom>
          <a:solidFill>
            <a:srgbClr val="0D1F38"/>
          </a:solidFill>
          <a:ln w="127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2697480" cy="32004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389888"/>
            <a:ext cx="2551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</a:rPr>
              <a:t>Clustering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1755648"/>
            <a:ext cx="25511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99FF"/>
                </a:solidFill>
              </a:rPr>
              <a:t>K-Means  |  DBSCAN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21284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</a:rPr>
              <a:t>Group similar hourly consumption behavior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2852928"/>
            <a:ext cx="2514600" cy="2743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926080"/>
            <a:ext cx="2514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• K-Means: k=2–5, best by silhouette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• DBSCAN: density-based, finds noise points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• PCA 2D projection for visualization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371600"/>
            <a:ext cx="2697480" cy="4937760"/>
          </a:xfrm>
          <a:prstGeom prst="rect">
            <a:avLst/>
          </a:prstGeom>
          <a:solidFill>
            <a:srgbClr val="0D1F38"/>
          </a:solidFill>
          <a:ln w="1270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371600"/>
            <a:ext cx="2697480" cy="32004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2" y="1389888"/>
            <a:ext cx="2551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</a:rPr>
              <a:t>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1755648"/>
            <a:ext cx="25511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C66"/>
                </a:solidFill>
              </a:rPr>
              <a:t>Linear  |  Ridge  |  Poly Ridge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21284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</a:rPr>
              <a:t>Predict short-term active power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852928"/>
            <a:ext cx="2514600" cy="27432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926080"/>
            <a:ext cx="2514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• Chronological 80/20 split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• Lag features prevent target leakage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• Polynomial degree=2 for non-linearity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371600"/>
            <a:ext cx="2697480" cy="4937760"/>
          </a:xfrm>
          <a:prstGeom prst="rect">
            <a:avLst/>
          </a:prstGeom>
          <a:solidFill>
            <a:srgbClr val="0D1F38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371600"/>
            <a:ext cx="2697480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1389888"/>
            <a:ext cx="2551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</a:rPr>
              <a:t>Classification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1755648"/>
            <a:ext cx="25511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000"/>
                </a:solidFill>
              </a:rPr>
              <a:t>Logistic Reg.  |  Random Forest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79" y="221284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</a:rPr>
              <a:t>Label hours: high vs normal consumption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79" y="2852928"/>
            <a:ext cx="2514600" cy="274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79" y="2926080"/>
            <a:ext cx="2514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• Target: top quartile = high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• Stratified split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• Behavior feature set (12 features)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1371600"/>
            <a:ext cx="2697480" cy="4937760"/>
          </a:xfrm>
          <a:prstGeom prst="rect">
            <a:avLst/>
          </a:prstGeom>
          <a:solidFill>
            <a:srgbClr val="0D1F38"/>
          </a:solidFill>
          <a:ln w="12700"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1371600"/>
            <a:ext cx="2697480" cy="32004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8592" y="1389888"/>
            <a:ext cx="2551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</a:rPr>
              <a:t>Anomaly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1755648"/>
            <a:ext cx="25511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5555"/>
                </a:solidFill>
              </a:rPr>
              <a:t>Isolation Forest  +  PCA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21284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</a:rPr>
              <a:t>Flag unusual consumption periods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26880" y="2852928"/>
            <a:ext cx="2514600" cy="27432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2926080"/>
            <a:ext cx="2514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• Contamination=1%, 150 estimators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• Anomaly score + binary label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• PCA variance summary (3 components)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8FF"/>
                </a:solidFill>
              </a:rPr>
              <a:t>Evaluation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Full-dataset results from 17,477 hourly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9FF"/>
                </a:solidFill>
              </a:rPr>
              <a:t>Clustering  —  Silhouette Scores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2377440" cy="329184"/>
          </a:xfrm>
          <a:prstGeom prst="rect">
            <a:avLst/>
          </a:prstGeom>
          <a:solidFill>
            <a:srgbClr val="14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6537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K-Means k=2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828800"/>
            <a:ext cx="2651760" cy="329184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86537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000"/>
                </a:solidFill>
              </a:rPr>
              <a:t>0.260 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12848"/>
            <a:ext cx="2377440" cy="329184"/>
          </a:xfrm>
          <a:prstGeom prst="rect">
            <a:avLst/>
          </a:prstGeom>
          <a:solidFill>
            <a:srgbClr val="14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494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K-Means k=3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212848"/>
            <a:ext cx="2651760" cy="329184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2494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FF"/>
                </a:solidFill>
              </a:rPr>
              <a:t>0.204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96896"/>
            <a:ext cx="2377440" cy="329184"/>
          </a:xfrm>
          <a:prstGeom prst="rect">
            <a:avLst/>
          </a:prstGeom>
          <a:solidFill>
            <a:srgbClr val="14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3347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K-Means k=4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2596896"/>
            <a:ext cx="2651760" cy="329184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263347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FF"/>
                </a:solidFill>
              </a:rPr>
              <a:t>0.216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980944"/>
            <a:ext cx="2377440" cy="329184"/>
          </a:xfrm>
          <a:prstGeom prst="rect">
            <a:avLst/>
          </a:prstGeom>
          <a:solidFill>
            <a:srgbClr val="14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K-Means k=5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2980944"/>
            <a:ext cx="2651760" cy="329184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30175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FF"/>
                </a:solidFill>
              </a:rPr>
              <a:t>0.226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364991"/>
            <a:ext cx="2377440" cy="329184"/>
          </a:xfrm>
          <a:prstGeom prst="rect">
            <a:avLst/>
          </a:prstGeom>
          <a:solidFill>
            <a:srgbClr val="14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4015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DBSCAN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3364991"/>
            <a:ext cx="2651760" cy="329184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34015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FF"/>
                </a:solidFill>
              </a:rPr>
              <a:t>0.118  (4 clusters, 600 noise)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3716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C66"/>
                </a:solidFill>
              </a:rPr>
              <a:t>Regression  —  Full Dataset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87451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Model                MAE    RMSE    R²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176272"/>
            <a:ext cx="5394960" cy="27432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2240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000"/>
                </a:solidFill>
              </a:rPr>
              <a:t>Polynomial Ridge       0.370    0.541    0.633 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64261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Linear Regression      0.377    0.556    0.611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04495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Ridge Regression       0.377    0.557    0.611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39319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000"/>
                </a:solidFill>
              </a:rPr>
              <a:t>Classification  —  Full Dataset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4074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Model                 Accuracy   Prec / Recall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700016"/>
            <a:ext cx="5394960" cy="274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7548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Logistic Regression    99.77%     1.00 / 1.00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15721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Random Forest          99.57%     0.99 / 0.99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9319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5555"/>
                </a:solidFill>
              </a:rPr>
              <a:t>Anomaly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4074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Total hours analyzed: 17,477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800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Anomalies detected: 175  (1.0%)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519379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Top event: 2008-02-02 19:00  →  6.50 kW, 28.2 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586983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Clusters in winter evenings (19:00–21:00)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980175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PCA: PC1=33.3%  PC2=15.0%  PC3=9.0%  →  57.3% total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8FF"/>
                </a:solidFill>
              </a:rPr>
              <a:t>Dashboard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Streamlit  —  6 interactive sections  —  deployed to Streamlit Community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828800" cy="960120"/>
          </a:xfrm>
          <a:prstGeom prst="rect">
            <a:avLst/>
          </a:prstGeom>
          <a:solidFill>
            <a:srgbClr val="0D2040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417320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FF"/>
                </a:solidFill>
              </a:rP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783080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Metrics panel + time-series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2350008" y="1371600"/>
            <a:ext cx="1828800" cy="960120"/>
          </a:xfrm>
          <a:prstGeom prst="rect">
            <a:avLst/>
          </a:prstGeom>
          <a:solidFill>
            <a:srgbClr val="0D2040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1417320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FF"/>
                </a:solidFill>
              </a:rPr>
              <a:t>Clustering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783080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Silhouette table, cluster profile, PCA scatter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1371600"/>
            <a:ext cx="1828800" cy="960120"/>
          </a:xfrm>
          <a:prstGeom prst="rect">
            <a:avLst/>
          </a:prstGeom>
          <a:solidFill>
            <a:srgbClr val="0D2040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417320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FF"/>
                </a:solidFill>
              </a:rPr>
              <a:t>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1783080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Model comparison + RMSE chart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18504" y="1371600"/>
            <a:ext cx="1828800" cy="960120"/>
          </a:xfrm>
          <a:prstGeom prst="rect">
            <a:avLst/>
          </a:prstGeom>
          <a:solidFill>
            <a:srgbClr val="0D2040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417320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FF"/>
                </a:solidFill>
              </a:rPr>
              <a:t>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1783080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Accuracy table + classification report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02752" y="1371600"/>
            <a:ext cx="1828800" cy="960120"/>
          </a:xfrm>
          <a:prstGeom prst="rect">
            <a:avLst/>
          </a:prstGeom>
          <a:solidFill>
            <a:srgbClr val="0D2040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1417320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FF"/>
                </a:solidFill>
              </a:rPr>
              <a:t>Anomaly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1783080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Scatter plot + top anomaly 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87000" y="1371600"/>
            <a:ext cx="1828800" cy="960120"/>
          </a:xfrm>
          <a:prstGeom prst="rect">
            <a:avLst/>
          </a:prstGeom>
          <a:solidFill>
            <a:srgbClr val="0D2040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60152" y="1417320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FF"/>
                </a:solidFill>
              </a:rPr>
              <a:t>Business 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0152" y="1783080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Peak hour, consumption share, anomaly share, recommendations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514600"/>
            <a:ext cx="5394960" cy="2743200"/>
          </a:xfrm>
          <a:prstGeom prst="rect">
            <a:avLst/>
          </a:prstGeom>
          <a:solidFill>
            <a:srgbClr val="142844"/>
          </a:solidFill>
          <a:ln w="12700">
            <a:solidFill>
              <a:srgbClr val="00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2624328"/>
            <a:ext cx="5175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FF"/>
                </a:solidFill>
              </a:rPr>
              <a:t>📷  Overview tab — metrics panel + consumption time-series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3026664"/>
            <a:ext cx="5175504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CCCC"/>
                </a:solidFill>
              </a:rPr>
              <a:t>[ Insert dashboard screenshot here 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514600"/>
            <a:ext cx="5394960" cy="2743200"/>
          </a:xfrm>
          <a:prstGeom prst="rect">
            <a:avLst/>
          </a:prstGeom>
          <a:solidFill>
            <a:srgbClr val="142844"/>
          </a:solidFill>
          <a:ln w="12700">
            <a:solidFill>
              <a:srgbClr val="00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2624328"/>
            <a:ext cx="5175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FF"/>
                </a:solidFill>
              </a:rPr>
              <a:t>📷  Clustering tab — PCA scatter + cluster profile 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026664"/>
            <a:ext cx="5175504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CCCC"/>
                </a:solidFill>
              </a:rPr>
              <a:t>[ Insert dashboard screenshot here 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Global filter: date range selector applies to all sections.  Sample mode toggle switches between fast cloud mode (1,666 rows) and full dataset (17,477 rows).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8FF"/>
                </a:solidFill>
              </a:rPr>
              <a:t>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Key energy findings from the dashboard and model outputs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743200" cy="1005840"/>
          </a:xfrm>
          <a:prstGeom prst="rect">
            <a:avLst/>
          </a:prstGeom>
          <a:solidFill>
            <a:srgbClr val="142844"/>
          </a:solidFill>
          <a:ln w="12700">
            <a:solidFill>
              <a:srgbClr val="00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472184"/>
            <a:ext cx="2596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8FF"/>
                </a:solidFill>
              </a:rPr>
              <a:t>20:00 – 21:00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984248"/>
            <a:ext cx="2596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Peak Consumption Hour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417320"/>
            <a:ext cx="2560320" cy="1005840"/>
          </a:xfrm>
          <a:prstGeom prst="rect">
            <a:avLst/>
          </a:prstGeom>
          <a:solidFill>
            <a:srgbClr val="142844"/>
          </a:solidFill>
          <a:ln w="12700">
            <a:solidFill>
              <a:srgbClr val="00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1472184"/>
            <a:ext cx="24140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8FF"/>
                </a:solidFill>
              </a:rPr>
              <a:t>1.106 kW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984248"/>
            <a:ext cx="24140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Avg Active Power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417320"/>
            <a:ext cx="2560320" cy="1005840"/>
          </a:xfrm>
          <a:prstGeom prst="rect">
            <a:avLst/>
          </a:prstGeom>
          <a:solidFill>
            <a:srgbClr val="142844"/>
          </a:solidFill>
          <a:ln w="12700">
            <a:solidFill>
              <a:srgbClr val="00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2" y="1472184"/>
            <a:ext cx="24140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5555"/>
                </a:solidFill>
              </a:rPr>
              <a:t>6.560 kW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1984248"/>
            <a:ext cx="24140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Peak Active Power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1417320"/>
            <a:ext cx="2743200" cy="1005840"/>
          </a:xfrm>
          <a:prstGeom prst="rect">
            <a:avLst/>
          </a:prstGeom>
          <a:solidFill>
            <a:srgbClr val="142844"/>
          </a:solidFill>
          <a:ln w="12700">
            <a:solidFill>
              <a:srgbClr val="00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51392" y="1472184"/>
            <a:ext cx="2596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5555"/>
                </a:solidFill>
              </a:rPr>
              <a:t>1.0%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392" y="1984248"/>
            <a:ext cx="2596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Detected Anomaly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7432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C66"/>
                </a:solidFill>
              </a:rPr>
              <a:t>Recommendations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Shift laundry and dishwashers away from the 19:00 – 22:00 peak window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Investigate anomaly hours (high power + high current) for faults or unplanned appliance use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Sub-metering data shows which appliance category (kitchen / laundry / HVAC) drives load — target highest first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Use the classification model as the basis for a simple household energy alert system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Cluster 2 (high-activity, 2.59 kW avg) appears mid-afternoon — heavy usage is not only an evening event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2743200"/>
            <a:ext cx="3931920" cy="3200400"/>
          </a:xfrm>
          <a:prstGeom prst="rect">
            <a:avLst/>
          </a:prstGeom>
          <a:solidFill>
            <a:srgbClr val="142844"/>
          </a:solidFill>
          <a:ln w="12700">
            <a:solidFill>
              <a:srgbClr val="00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73567" y="2852928"/>
            <a:ext cx="37124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FF"/>
                </a:solidFill>
              </a:rPr>
              <a:t>📷  Business Insights tab — peak hour chart + recommendations panel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7" y="3255264"/>
            <a:ext cx="3712463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CCCC"/>
                </a:solidFill>
              </a:rPr>
              <a:t>[ Insert dashboard screenshot here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8FF"/>
                </a:solidFill>
              </a:rPr>
              <a:t>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5555"/>
                </a:solidFill>
              </a:rPr>
              <a:t>Limitations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Single household — not directly generalizable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No weather, occupancy, or tariff data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Baseline models — not production forecasters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Local CSV may not cover full public dataset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High accuracy reflects feature-label correlation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C66"/>
                </a:solidFill>
              </a:rPr>
              <a:t>Future Work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Add weather and temperature features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Incorporate tariff / pricing data for cost savings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Apply LSTM, Prophet, or XGBoost for richer forecasting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Multi-household comparison dataset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Real-time alerts for high consumption and anomalies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►  Association rule mining for appliance co-usage patterns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371600"/>
            <a:ext cx="36576" cy="4572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8FF"/>
                </a:solidFill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0972800" cy="475488"/>
          </a:xfrm>
          <a:prstGeom prst="rect">
            <a:avLst/>
          </a:prstGeom>
          <a:solidFill>
            <a:srgbClr val="102240"/>
          </a:solidFill>
          <a:ln w="12700">
            <a:solidFill>
              <a:srgbClr val="00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Complete CRISP-DM cycle delivered across 6 ordered notebooks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65960"/>
            <a:ext cx="10972800" cy="475488"/>
          </a:xfrm>
          <a:prstGeom prst="rect">
            <a:avLst/>
          </a:prstGeom>
          <a:solidFill>
            <a:srgbClr val="102240"/>
          </a:solidFill>
          <a:ln w="12700">
            <a:solidFill>
              <a:srgbClr val="00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11679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All 4 required mining categories implemented and evaluated on real household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14600"/>
            <a:ext cx="10972800" cy="475488"/>
          </a:xfrm>
          <a:prstGeom prst="rect">
            <a:avLst/>
          </a:prstGeom>
          <a:solidFill>
            <a:srgbClr val="102240"/>
          </a:solidFill>
          <a:ln w="12700">
            <a:solidFill>
              <a:srgbClr val="00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Polynomial Ridge regression explains 63% of hourly power variation using lag + time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63240"/>
            <a:ext cx="10972800" cy="475488"/>
          </a:xfrm>
          <a:prstGeom prst="rect">
            <a:avLst/>
          </a:prstGeom>
          <a:solidFill>
            <a:srgbClr val="102240"/>
          </a:solidFill>
          <a:ln w="12700">
            <a:solidFill>
              <a:srgbClr val="00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10896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Classifiers identify high-consumption hours with &gt;99% accuracy on the full dataset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80"/>
            <a:ext cx="10972800" cy="475488"/>
          </a:xfrm>
          <a:prstGeom prst="rect">
            <a:avLst/>
          </a:prstGeom>
          <a:solidFill>
            <a:srgbClr val="102240"/>
          </a:solidFill>
          <a:ln w="12700">
            <a:solidFill>
              <a:srgbClr val="00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65760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1% of hours flagged as anomalous — concentrated in winter evenings (Dec–Feb)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60520"/>
            <a:ext cx="10972800" cy="475488"/>
          </a:xfrm>
          <a:prstGeom prst="rect">
            <a:avLst/>
          </a:prstGeom>
          <a:solidFill>
            <a:srgbClr val="102240"/>
          </a:solidFill>
          <a:ln w="12700">
            <a:solidFill>
              <a:srgbClr val="00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Dashboard turns model outputs into actionable household energy recommendations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029200"/>
            <a:ext cx="10972800" cy="822960"/>
          </a:xfrm>
          <a:prstGeom prst="rect">
            <a:avLst/>
          </a:prstGeom>
          <a:solidFill>
            <a:srgbClr val="004020"/>
          </a:solidFill>
          <a:ln w="1270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074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C66"/>
                </a:solidFill>
              </a:rPr>
              <a:t>Key insight: peak electricity usage concentrates in evening hours (20:00–21:00). Shifting heavy appliances out of this window is the most impactful behavioral change available.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